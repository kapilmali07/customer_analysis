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oto Serif" panose="02020600060500020200" pitchFamily="18" charset="0"/>
      <p:regular r:id="rId17"/>
    </p:embeddedFont>
    <p:embeddedFont>
      <p:font typeface="Noto Serif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57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8953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488109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Data Analytics Project ·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3,900 purchases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across multiple product categories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01206"/>
            <a:ext cx="639366" cy="266402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143696"/>
            <a:ext cx="92645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PYTHON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206326" y="3101206"/>
            <a:ext cx="386507" cy="266402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8" name="Text 5"/>
          <p:cNvSpPr/>
          <p:nvPr/>
        </p:nvSpPr>
        <p:spPr>
          <a:xfrm>
            <a:off x="1291382" y="3143696"/>
            <a:ext cx="67359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SQL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663675" y="3101206"/>
            <a:ext cx="729183" cy="266402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10" name="Text 7"/>
          <p:cNvSpPr/>
          <p:nvPr/>
        </p:nvSpPr>
        <p:spPr>
          <a:xfrm>
            <a:off x="1748730" y="3143696"/>
            <a:ext cx="101627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BI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96119" y="3527078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Prepared by: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Kapil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79871"/>
            <a:ext cx="2838450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at a Glance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1285875" y="753145"/>
            <a:ext cx="213739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3,900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1759223" y="116309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503265" y="753145"/>
            <a:ext cx="2137395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18</a:t>
            </a:r>
            <a:endParaRPr lang="en-US" sz="2450" dirty="0"/>
          </a:p>
        </p:txBody>
      </p:sp>
      <p:sp>
        <p:nvSpPr>
          <p:cNvPr id="6" name="Text 4"/>
          <p:cNvSpPr/>
          <p:nvPr/>
        </p:nvSpPr>
        <p:spPr>
          <a:xfrm>
            <a:off x="3976613" y="116309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Features / Columns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20655" y="753145"/>
            <a:ext cx="213747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37</a:t>
            </a:r>
            <a:endParaRPr lang="en-US" sz="2450" dirty="0"/>
          </a:p>
        </p:txBody>
      </p:sp>
      <p:sp>
        <p:nvSpPr>
          <p:cNvPr id="8" name="Text 6"/>
          <p:cNvSpPr/>
          <p:nvPr/>
        </p:nvSpPr>
        <p:spPr>
          <a:xfrm>
            <a:off x="6194078" y="1163092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20655" y="1350318"/>
            <a:ext cx="213747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Review Rating column</a:t>
            </a:r>
            <a:endParaRPr lang="en-US" sz="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621631"/>
            <a:ext cx="3169965" cy="316996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92923" y="3039666"/>
            <a:ext cx="16478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Groups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692923" y="3252490"/>
            <a:ext cx="362716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 Demographics · Purchase Details · Shopping Behavior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Exploratory Data Analysis — Python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163346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6290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Loading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193558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Imported via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verified shape, dtypes, samples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450306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4459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Missing Data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752427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37 nulls in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review_rating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imputed by median per category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3267149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2627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569271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Created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bins and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408399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85816" y="4079602"/>
            <a:ext cx="18006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385816" y="438611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Loaded cleaned DataFrame into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MySQL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via SQLAlchemy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321"/>
            <a:ext cx="43452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Cleaning Pipeline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177826"/>
            <a:ext cx="6339185" cy="2901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636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Load to MySQL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56456" y="3160859"/>
            <a:ext cx="1190143" cy="68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Drop Redundant Column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264702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Impute Ratings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40341" y="3275491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Standardize Columns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23855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Columns renamed to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snake_case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SQL compatibility. Redundant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dropped — fully correlated with </a:t>
            </a:r>
            <a:r>
              <a:rPr lang="en-US" sz="110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78098"/>
            <a:ext cx="656339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Analysis — Revenue &amp; Spending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156395"/>
            <a:ext cx="3923854" cy="2824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4269" y="1139726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Findings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5219" y="1503908"/>
            <a:ext cx="3942904" cy="8765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7763" y="1660252"/>
            <a:ext cx="175260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Gender Revenue Gap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57763" y="2007766"/>
            <a:ext cx="355401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Male: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$157,890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vs Female: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$75,191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5219" y="2513409"/>
            <a:ext cx="3942904" cy="10928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57763" y="266975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Discount Users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957763" y="3017267"/>
            <a:ext cx="3554016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839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customers used discounts yet spent above average (~$60)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5219" y="3739232"/>
            <a:ext cx="3942904" cy="87652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57763" y="389557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Shipping Spend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957763" y="4243090"/>
            <a:ext cx="355401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Express avg: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$60.48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vs Standard avg: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$58.46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396106"/>
            <a:ext cx="4800302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 Analysis — Products &amp; Segments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57349" y="1393552"/>
            <a:ext cx="4800302" cy="748085"/>
          </a:xfrm>
          <a:prstGeom prst="roundRect">
            <a:avLst>
              <a:gd name="adj" fmla="val 73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2782" y="152898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 Rated Products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2782" y="1805360"/>
            <a:ext cx="452943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Gloves (3.86) › Sandals (3.84) › Boots (3.82) › Hat (3.80) › Skirt (3.78)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349" y="2262113"/>
            <a:ext cx="4800302" cy="748085"/>
          </a:xfrm>
          <a:prstGeom prst="roundRect">
            <a:avLst>
              <a:gd name="adj" fmla="val 73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2782" y="2397547"/>
            <a:ext cx="172000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Discount Dependency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2782" y="2673921"/>
            <a:ext cx="452943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Hat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50%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Sneakers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49.66%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Coat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49.07%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discount rate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349" y="3130674"/>
            <a:ext cx="4800302" cy="748085"/>
          </a:xfrm>
          <a:prstGeom prst="roundRect">
            <a:avLst>
              <a:gd name="adj" fmla="val 73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2782" y="326610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 Segments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2782" y="3542481"/>
            <a:ext cx="452943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Loyal: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3,116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Returning: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701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New: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349" y="3999235"/>
            <a:ext cx="4800302" cy="748085"/>
          </a:xfrm>
          <a:prstGeom prst="roundRect">
            <a:avLst>
              <a:gd name="adj" fmla="val 733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651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2782" y="4134669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Repeat Buyers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92782" y="4411042"/>
            <a:ext cx="452943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Of &gt;5 purchases: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2,518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not subscribed vs </a:t>
            </a:r>
            <a:r>
              <a:rPr lang="en-US" sz="10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958</a:t>
            </a:r>
            <a:r>
              <a:rPr lang="en-US" sz="10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subscribed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3541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Subscriber Spend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Subscribers: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$59.49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Non-subscribers: </a:t>
            </a: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$59.87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avg — nearly identical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435721"/>
            <a:ext cx="263916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9701" y="27989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Clothing: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Blouse, Pants, Shirt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Footwear: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Sandals, Shoes, Sneakers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73782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951488" y="967606"/>
            <a:ext cx="197539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Dashboard Highlights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7200" y="1252761"/>
            <a:ext cx="2613347" cy="8662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23756" y="138216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23756" y="1655638"/>
            <a:ext cx="229738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3.9K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customers · </a:t>
            </a: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$59.76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avg purchase · </a:t>
            </a: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3.75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avg rating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7200" y="2212553"/>
            <a:ext cx="2613347" cy="69926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23756" y="2341959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Subscription Split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23756" y="2615431"/>
            <a:ext cx="22973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27%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subscribed vs </a:t>
            </a: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73%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not subscribed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7200" y="3005361"/>
            <a:ext cx="2613347" cy="69926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3756" y="3134767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Category Leader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6123756" y="3408238"/>
            <a:ext cx="2297385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Clothing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leads both Revenue and Sales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7200" y="3798168"/>
            <a:ext cx="2613347" cy="86625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123756" y="392757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Age Segment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123756" y="4201046"/>
            <a:ext cx="2297385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Young Adults</a:t>
            </a:r>
            <a:r>
              <a:rPr lang="en-US" sz="9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drive highest revenue &amp; sales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AE747F-CE33-9199-C52C-AA3935F9F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10" y="759205"/>
            <a:ext cx="5825490" cy="4269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2362"/>
            <a:ext cx="3897511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Strategic Recommendations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787152"/>
            <a:ext cx="7030715" cy="6113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95908" y="99729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1682" y="90331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Boost Subscriptions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551682" y="110646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Only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27%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subscribed — add exclusive perks to drive conversion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1471687"/>
            <a:ext cx="7030715" cy="611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5908" y="168183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551682" y="158784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Loyalty Program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551682" y="179099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80%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are 'Loyal' — formalize tiered rewards to reduce churn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2156222"/>
            <a:ext cx="7030715" cy="611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5908" y="236636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551682" y="227238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Optimize Discounts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551682" y="247553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Hat &amp; Sneakers at ~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50%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discount rate — test lower thresholds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2840757"/>
            <a:ext cx="7030715" cy="611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95908" y="305090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551682" y="2956917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Target Young Adults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551682" y="316006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Highest revenue segment (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$62,143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) — allocate digital marketing budget</a:t>
            </a:r>
            <a:endParaRPr lang="en-US" sz="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3525292"/>
            <a:ext cx="7030715" cy="611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95908" y="373543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551682" y="364145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Positioning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551682" y="3844603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Highlight top-rated items; promote Clothing with cross-sell opportunities</a:t>
            </a:r>
            <a:endParaRPr lang="en-US" sz="8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605" y="4209827"/>
            <a:ext cx="7030715" cy="61131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95908" y="4419972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551682" y="4325987"/>
            <a:ext cx="147853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Express Shipping Upsell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551682" y="4529138"/>
            <a:ext cx="6419478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Express users spend </a:t>
            </a:r>
            <a:r>
              <a:rPr lang="en-US" sz="8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$60.48</a:t>
            </a:r>
            <a:r>
              <a:rPr lang="en-US" sz="8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avg — target Standard users with promotions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315441"/>
            <a:ext cx="2949178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Project Summary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810816"/>
            <a:ext cx="3317304" cy="33173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98281" y="2224311"/>
            <a:ext cx="17031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End-to-End Pipeline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698281" y="2450009"/>
            <a:ext cx="3317304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From raw data to actionable insights — Python, SQL, and Power BI working in concert.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133029" y="4285729"/>
            <a:ext cx="2245891" cy="542330"/>
          </a:xfrm>
          <a:prstGeom prst="roundRect">
            <a:avLst>
              <a:gd name="adj" fmla="val 772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37431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3,900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37431" y="4587850"/>
            <a:ext cx="2037085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Transactions analyzed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3448943" y="4285729"/>
            <a:ext cx="2245965" cy="542330"/>
          </a:xfrm>
          <a:prstGeom prst="roundRect">
            <a:avLst>
              <a:gd name="adj" fmla="val 772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53346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53346" y="4587850"/>
            <a:ext cx="203715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Business questions answered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5764932" y="4285729"/>
            <a:ext cx="2245965" cy="542330"/>
          </a:xfrm>
          <a:prstGeom prst="roundRect">
            <a:avLst>
              <a:gd name="adj" fmla="val 7720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27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869335" y="4390132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869335" y="4587850"/>
            <a:ext cx="2037159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Strategic recommendations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475</Words>
  <Application>Microsoft Office PowerPoint</Application>
  <PresentationFormat>On-screen Show (16:9)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Noto Serif</vt:lpstr>
      <vt:lpstr>Consolas</vt:lpstr>
      <vt:lpstr>Arial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kapil mali</cp:lastModifiedBy>
  <cp:revision>2</cp:revision>
  <dcterms:created xsi:type="dcterms:W3CDTF">2026-06-09T17:14:00Z</dcterms:created>
  <dcterms:modified xsi:type="dcterms:W3CDTF">2026-06-09T17:17:46Z</dcterms:modified>
</cp:coreProperties>
</file>